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FreightIQ — AI Bulk Freight &amp; Decarbonization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Problem Statement ID:</a:t>
            </a:r>
            <a:r>
              <a:rPr b="0" sz="1300">
                <a:solidFill>
                  <a:srgbClr val="0F172A"/>
                </a:solidFill>
              </a:rPr>
              <a:t> SIH26006</a:t>
            </a:r>
            <a:endParaRPr lang="en-US" dirty="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Problem Statement Title:</a:t>
            </a:r>
            <a:r>
              <a:rPr b="0" sz="1300">
                <a:solidFill>
                  <a:srgbClr val="0F172A"/>
                </a:solidFill>
              </a:rPr>
              <a:t> AI-Powered Freight Rate Forecasting, Dynamic Vessel Chartering &amp; Port Logistics Optimization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Theme:</a:t>
            </a:r>
            <a:r>
              <a:rPr b="0" sz="1300">
                <a:solidFill>
                  <a:srgbClr val="0F172A"/>
                </a:solidFill>
              </a:rPr>
              <a:t> Smart Automation / Maritime &amp; Steel Logistics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PS Category:</a:t>
            </a:r>
            <a:r>
              <a:rPr b="0" sz="1300">
                <a:solidFill>
                  <a:srgbClr val="0F172A"/>
                </a:solidFill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Target Ministry / PSU:</a:t>
            </a:r>
            <a:r>
              <a:rPr b="0" sz="1300">
                <a:solidFill>
                  <a:srgbClr val="0F172A"/>
                </a:solidFill>
              </a:rPr>
              <a:t> Ministry of Steel / Steel Authority of India Limited (SAIL) &amp; MoPSW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Primary Maritime Hubs:</a:t>
            </a:r>
            <a:r>
              <a:rPr b="0" sz="1300">
                <a:solidFill>
                  <a:srgbClr val="0F172A"/>
                </a:solidFill>
              </a:rPr>
              <a:t> Thoothukudi (VOCPA) &amp; Chennai / Ennore Corridors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3A8A"/>
                </a:solidFill>
              </a:rPr>
              <a:t>Team Name:</a:t>
            </a:r>
            <a:r>
              <a:rPr b="0" sz="1300">
                <a:solidFill>
                  <a:srgbClr val="0F172A"/>
                </a:solidFill>
              </a:rPr>
              <a:t> FreightIQ Innovation Team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400" b="1">
                <a:solidFill>
                  <a:srgbClr val="FFFFFF"/>
                </a:solidFill>
              </a:defRPr>
            </a:pPr>
            <a:r>
              <a:t>PROPOSED SOLUTION — THOOTHUKUDI &amp; CHENNAI MARITIME ENGINE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b="1" sz="1300">
                <a:solidFill>
                  <a:srgbClr val="1E3A8A"/>
                </a:solidFill>
              </a:defRPr>
            </a:pPr>
            <a:r>
              <a:t>Strategic Focus on Southern Gateway for SAIL &amp; Coastal Power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South India Corridor Priority: </a:t>
            </a:r>
            <a:r>
              <a:rPr b="0" sz="1100">
                <a:solidFill>
                  <a:srgbClr val="475569"/>
                </a:solidFill>
              </a:rPr>
              <a:t>Calibrated for SAIL Salem Steel Plant (SSP) and coastal power utilities importing through Thoothukudi (VOCPA) and Chennai / Kamarajar (Ennore).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Thoothukudi (VOCPA) Green Hub: </a:t>
            </a:r>
            <a:r>
              <a:rPr b="0" sz="1100">
                <a:solidFill>
                  <a:srgbClr val="475569"/>
                </a:solidFill>
              </a:rPr>
              <a:t>Designated MoPSW Green Hydrogen/Ammonia Bunkering Hub (India Green Fuel Conclave '26); 14.2m draft handling 74,510 MT Panamax bulkers (MV Vishva Vijay, MV Lyric Harmony) at 15,000 MT/day mechanized discharge norm (NCB-I).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Chennai &amp; Kamarajar Ports: </a:t>
            </a:r>
            <a:r>
              <a:rPr b="0" sz="1100">
                <a:solidFill>
                  <a:srgbClr val="475569"/>
                </a:solidFill>
              </a:rPr>
              <a:t>Multi-cargo and pig iron hub at Jawahar Dock (52,500 MT MV Supra Monarch) and Bharathi Dock, linked directly to the CJ Darcl East Coast coastal corridor (Haldia-Paradip-Vizag-Chennai) and dedicated coal berths at Ennore.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6 Unified AI &amp; Maritime Physics Decision Engines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Temporal Fusion Transformer (TFT): </a:t>
            </a:r>
            <a:r>
              <a:rPr b="0" sz="1100">
                <a:solidFill>
                  <a:srgbClr val="475569"/>
                </a:solidFill>
              </a:rPr>
              <a:t>7/14/30-day multi-horizon freight rate forecasting with P10/P50/P90 confidence intervals.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Hidden Markov Model (HMM): </a:t>
            </a:r>
            <a:r>
              <a:rPr b="0" sz="1100">
                <a:solidFill>
                  <a:srgbClr val="475569"/>
                </a:solidFill>
              </a:rPr>
              <a:t>4-state Baltic market regime classifier (Bull, Bear, Seasonal, Sideways) triggering contract recommendations.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Black-Scholes Real Options Engine: </a:t>
            </a:r>
            <a:r>
              <a:rPr b="0" sz="1100">
                <a:solidFill>
                  <a:srgbClr val="475569"/>
                </a:solidFill>
              </a:rPr>
              <a:t>Dynamic 'Wait vs. Fix Now' valuation quantifying dollar value of waiting before fixing charter.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Live AIS Congestion &amp; Virtual Arrival: </a:t>
            </a:r>
            <a:r>
              <a:rPr b="0" sz="1100">
                <a:solidFill>
                  <a:srgbClr val="475569"/>
                </a:solidFill>
              </a:rPr>
              <a:t>Real-time anchorage queue tracking; calculates slow-steaming bunker savings ($114k+/voyage).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INCOIS Tidal Gate Predictor: </a:t>
            </a:r>
            <a:r>
              <a:rPr b="0" sz="1100">
                <a:solidFill>
                  <a:srgbClr val="475569"/>
                </a:solidFill>
              </a:rPr>
              <a:t>Harmonic semi-diurnal tidal window forecasting for draft-restricted berths.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Autonomous Chartering Copilot: </a:t>
            </a:r>
            <a:r>
              <a:rPr b="0" sz="1100">
                <a:solidFill>
                  <a:srgbClr val="475569"/>
                </a:solidFill>
              </a:rPr>
              <a:t>LangChain + Gemini-1.5-Flash tool-calling conversational agent with expert domain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FreightIQ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FFFFFF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b="1" sz="1300">
                <a:solidFill>
                  <a:srgbClr val="1E3A8A"/>
                </a:solidFill>
              </a:defRPr>
            </a:pPr>
            <a:r>
              <a:t>End-to-End Enterprise Architecture Stack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Frontend Presentation Layer: </a:t>
            </a:r>
            <a:r>
              <a:rPr b="0" sz="1100">
                <a:solidFill>
                  <a:srgbClr val="475569"/>
                </a:solidFill>
              </a:rPr>
              <a:t>Next.js 16 App Router, Turbopack, Tailwind CSS, Recharts, Lucide icons, 16 dedicated dashboard routes.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Backend Microservices: </a:t>
            </a:r>
            <a:r>
              <a:rPr b="0" sz="1100">
                <a:solidFill>
                  <a:srgbClr val="475569"/>
                </a:solidFill>
              </a:rPr>
              <a:t>FastAPI (Python 3.13), Pydantic v2 schemas, SQLAlchemy ORM, SQLite/PostgreSQL, fully async REST APIs.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AI &amp; Machine Learning: </a:t>
            </a:r>
            <a:r>
              <a:rPr b="0" sz="1100">
                <a:solidFill>
                  <a:srgbClr val="475569"/>
                </a:solidFill>
              </a:rPr>
              <a:t>LightGBM + Temporal Fusion Transformer for rates; 4-state Gaussian HMM for Baltic regimes; scipy.stats Black-Scholes engine.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Decarbonization Engine: </a:t>
            </a:r>
            <a:r>
              <a:rPr b="0" sz="1100">
                <a:solidFill>
                  <a:srgbClr val="475569"/>
                </a:solidFill>
              </a:rPr>
              <a:t>IMO MEPC.328(76) Carbon Intensity Indicator (CII Grade A-E) + EU ETS carbon tax voyager model.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Real Gazette Calibration &amp; Data Integration Pipeline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Official Shipping Gazettes: </a:t>
            </a:r>
            <a:r>
              <a:rPr b="0" sz="1100">
                <a:solidFill>
                  <a:srgbClr val="475569"/>
                </a:solidFill>
              </a:rPr>
              <a:t>Direct ingest from Exim India Shipping Times (Sept 11, 2026) &amp; Global Timex / Shipping Mail (Sept 18, 2026).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Benchmark Vessels: </a:t>
            </a:r>
            <a:r>
              <a:rPr b="0" sz="1100">
                <a:solidFill>
                  <a:srgbClr val="475569"/>
                </a:solidFill>
              </a:rPr>
              <a:t>Calibrated on actual vessels (MV Vishva Vijay, MV Lyric Harmony, MV Supra Monarch, MV Dawn Madurai).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Comprehensive Scale: </a:t>
            </a:r>
            <a:r>
              <a:rPr b="0" sz="1100">
                <a:solidFill>
                  <a:srgbClr val="475569"/>
                </a:solidFill>
              </a:rPr>
              <a:t>24,700 historical observations across 50 maritime trade routes and 17 international/domestic ports.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Deterministic Resiliency: </a:t>
            </a:r>
            <a:r>
              <a:rPr b="0" sz="1100">
                <a:solidFill>
                  <a:srgbClr val="475569"/>
                </a:solidFill>
              </a:rPr>
              <a:t>Domain heuristic fallback guarantee 100% uptime even during external API downtime.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FreightIQ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FFFFFF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1E3A8A"/>
                </a:solidFill>
              </a:defRPr>
            </a:pPr>
            <a:r>
              <a:t>Physical Maritime &amp; Port Engineering 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Port Physical Compatibility: </a:t>
            </a:r>
            <a:r>
              <a:rPr b="0" sz="1100">
                <a:solidFill>
                  <a:srgbClr val="475569"/>
                </a:solidFill>
              </a:rPr>
              <a:t>Evaluates draft, LOA, beam, and DWT (e.g., 18.0m Capesize blocked at VOCPA 14.2m channel; Panamax 14.0m cleared).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Loading Port Constraints: </a:t>
            </a:r>
            <a:r>
              <a:rPr b="0" sz="1100">
                <a:solidFill>
                  <a:srgbClr val="475569"/>
                </a:solidFill>
              </a:rPr>
              <a:t>Blocks Capesize at Kalimantan (12.0m river draft) and routes Supramax/Panamax workhorses.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100% Verification: </a:t>
            </a:r>
            <a:r>
              <a:rPr b="0" sz="1100">
                <a:solidFill>
                  <a:srgbClr val="475569"/>
                </a:solidFill>
              </a:rPr>
              <a:t>Tested across 12 core backend endpoints and 6 end-to-end maritime scenarios with 100% pass rate.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Financial &amp; Organizational Viability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Zero Infrastructure Friction: </a:t>
            </a:r>
            <a:r>
              <a:rPr b="0" sz="1100">
                <a:solidFill>
                  <a:srgbClr val="475569"/>
                </a:solidFill>
              </a:rPr>
              <a:t>Lightweight REST API seamlessly integrates into existing SAIL SAP/ERP procurement workflows.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High ROI / Immediate Payback: </a:t>
            </a:r>
            <a:r>
              <a:rPr b="0" sz="1100">
                <a:solidFill>
                  <a:srgbClr val="475569"/>
                </a:solidFill>
              </a:rPr>
              <a:t>Captures $550k–$1.2M in annual savings per corridor; pays for itself within the first 2 fixtures.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Strategic Alignment: </a:t>
            </a:r>
            <a:r>
              <a:rPr b="0" sz="1100">
                <a:solidFill>
                  <a:srgbClr val="475569"/>
                </a:solidFill>
              </a:rPr>
              <a:t>Aligned with Maritime India Vision 2030, Green Tug Transition Program, and MoPSW Green Bunkering mandates.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Demurrage Defense: </a:t>
            </a:r>
            <a:r>
              <a:rPr b="0" sz="1100">
                <a:solidFill>
                  <a:srgbClr val="475569"/>
                </a:solidFill>
              </a:rPr>
              <a:t>Virtual Arrival absorption cuts anchorage wait penalties ($18k–$20k/day) by over 50%.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FreightIQ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FFFFFF"/>
                </a:solidFill>
              </a:defRPr>
            </a:pPr>
            <a:r>
              <a:t>QUANTIFIABLE IMPACT &amp; STRATEGIC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1E3A8A"/>
                </a:solidFill>
              </a:defRPr>
            </a:pPr>
            <a:r>
              <a:t>Economic &amp; Operational Value for SAIL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Macro Procurement Savings: </a:t>
            </a:r>
            <a:r>
              <a:rPr b="0" sz="1100">
                <a:solidFill>
                  <a:srgbClr val="475569"/>
                </a:solidFill>
              </a:rPr>
              <a:t>3%–8% reduction in freight costs. For SAIL's 20–25 MT coal imports, $1/MT saving = $20M–$25M (~₹170–₹210 Cr) EBITDA gain.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Bunker Fuel Optimization: </a:t>
            </a:r>
            <a:r>
              <a:rPr b="0" sz="1100">
                <a:solidFill>
                  <a:srgbClr val="475569"/>
                </a:solidFill>
              </a:rPr>
              <a:t>Virtual Arrival slow-steaming captures $114,265 in bunker savings per voyage on Australia ➔ Thoothukudi.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Demurrage Elimination: </a:t>
            </a:r>
            <a:r>
              <a:rPr b="0" sz="1100">
                <a:solidFill>
                  <a:srgbClr val="475569"/>
                </a:solidFill>
              </a:rPr>
              <a:t>Proactive queue visibility avoids $75k–$200k in vessel detention charges at congested anchorages.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Contract Timing Alpha: </a:t>
            </a:r>
            <a:r>
              <a:rPr b="0" sz="1100">
                <a:solidFill>
                  <a:srgbClr val="475569"/>
                </a:solidFill>
              </a:rPr>
              <a:t>Real Options engine locks COA contracts before rate surges and exploits spot dips in softening regimes.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Environmental (ESG) &amp; National Maritime Benefits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Green Fuel Conclave Integration: </a:t>
            </a:r>
            <a:r>
              <a:rPr b="0" sz="1100">
                <a:solidFill>
                  <a:srgbClr val="475569"/>
                </a:solidFill>
              </a:rPr>
              <a:t>Supports Thoothukudi (VOCPA) as India's premier Green Hydrogen/Ammonia bunkering hub.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Emissions Abatement: </a:t>
            </a:r>
            <a:r>
              <a:rPr b="0" sz="1100">
                <a:solidFill>
                  <a:srgbClr val="475569"/>
                </a:solidFill>
              </a:rPr>
              <a:t>Slow-steaming and CII-optimized routing reduce voyage CO2 emissions by 18%–24% per shipment.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Coastal Shipping Boost: </a:t>
            </a:r>
            <a:r>
              <a:rPr b="0" sz="1100">
                <a:solidFill>
                  <a:srgbClr val="475569"/>
                </a:solidFill>
              </a:rPr>
              <a:t>Enhances utilization of CJ Darcl East Coast Liner corridor, reducing domestic rail freight bottlenecks.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FreightIQ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FFFFFF"/>
                </a:solidFill>
              </a:defRPr>
            </a:pPr>
            <a:r>
              <a:t>RESEARCH, DATA SOURCES &amp; GAZETTE CITATIONS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1E3A8A"/>
                </a:solidFill>
              </a:defRPr>
            </a:pPr>
            <a:r>
              <a:t>Official Maritime Gazette &amp; Industry Intelligence 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Exim India Shipping Times: </a:t>
            </a:r>
            <a:r>
              <a:rPr b="0" sz="1100">
                <a:solidFill>
                  <a:srgbClr val="475569"/>
                </a:solidFill>
              </a:rPr>
              <a:t>Vol. XLVIII No. 173 (Sept 11, 2026) — Chennai Port Jawahar Dock (JD-2) &amp; Bharathi Dock fixtures (MV Supra Monarch, MV Dawn Madurai, MV Banglar Joyjatra, CJ Darcl coastal schedules).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Global Timex / Shipping Mail: </a:t>
            </a:r>
            <a:r>
              <a:rPr b="0" sz="1100">
                <a:solidFill>
                  <a:srgbClr val="475569"/>
                </a:solidFill>
              </a:rPr>
              <a:t>Vol. XX No. 176 (Sept 18, 2026) — VOCPA Tuticorin India Green Fuel Conclave '26, North Cargo Berth (NCB-I) 15k MT/day norm, active coal fixtures (MV Vishva Vijay, MV Lyric Harmony).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Baltic Exchange: </a:t>
            </a:r>
            <a:r>
              <a:rPr b="0" sz="1100">
                <a:solidFill>
                  <a:srgbClr val="475569"/>
                </a:solidFill>
              </a:rPr>
              <a:t>Daily benchmark indices (BDI, BCI, BPI, BSI, BHSI) and standard Time Charter Equivalent (TCE) formulations.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Foundational Methodologies &amp; Engineering References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Real Options &amp; Financial Mathematics: </a:t>
            </a:r>
            <a:r>
              <a:rPr b="0" sz="1100">
                <a:solidFill>
                  <a:srgbClr val="475569"/>
                </a:solidFill>
              </a:rPr>
              <a:t>Black &amp; Scholes (1973), 'The Pricing of Options and Corporate Liabilities'; Dixit &amp; Pindyck (1994), 'Investment under Uncertainty'.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Multi-Horizon Deep Forecasting: </a:t>
            </a:r>
            <a:r>
              <a:rPr b="0" sz="1100">
                <a:solidFill>
                  <a:srgbClr val="475569"/>
                </a:solidFill>
              </a:rPr>
              <a:t>Lim et al. (2021), 'Temporal Fusion Transformers for Interpretable Multi-horizon Time Series Forecasting'.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Decarbonization Standards: </a:t>
            </a:r>
            <a:r>
              <a:rPr b="0" sz="1100">
                <a:solidFill>
                  <a:srgbClr val="475569"/>
                </a:solidFill>
              </a:rPr>
              <a:t>IMO MEPC.328(76) MARPOL Annex VI regulations for Carbon Intensity Indicator (CII).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F172A"/>
                </a:solidFill>
              </a:rPr>
              <a:t>• Production Codebase: </a:t>
            </a:r>
            <a:r>
              <a:rPr b="0" sz="1100">
                <a:solidFill>
                  <a:srgbClr val="475569"/>
                </a:solidFill>
              </a:rPr>
              <a:t>Full-stack system verified across 16 Next.js routes, 12 FastAPI endpoints, and 100% scenario tests.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FreightIQ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